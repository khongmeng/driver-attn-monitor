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CBB3-ADB4-44F7-6BE9-DB8907FCC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1CE4B-F25B-8A0F-E980-B308B9584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D32D-7AB3-5B0D-A6ED-A18DFDEC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699C-ADC3-00ED-D626-BE1EF506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3370-58D1-C132-AF68-7A746636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92D2-AD9D-4201-34AF-7987AA1A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D42F-E67E-063E-7A51-D4B6D8E6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667B-E2C6-6381-9FDF-471F9C8B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4C90-41A8-6627-A200-2A5B8F58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E8DF-B891-E14D-B961-447E1F19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BC02-E002-705D-AA15-D1AC6C91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7F80F-BA3A-A919-FCBC-D586E2F7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116A-107A-DEFC-D269-E7BA3CAD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1C579-7E2C-7C62-B435-C0C8DF3B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6C49A-11A1-CAD7-9DD2-F06886F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5683-48F8-5B1C-8FD0-EBC7E2E1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5FFA-29E0-12D3-891E-72B10AF56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6742B-BF72-1ED0-AC1D-F2D3F6D87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208AA-EDAF-3742-60C9-D0D5CA2C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7F2D9-A74C-B8D0-56ED-8BAC9210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88F7E-D735-4651-3E6C-015CB6AE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9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9509-41DE-9000-EDD4-04AB53C6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B0D64-FE3C-CC45-E8C3-7369CF4D1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9598B-4ED7-EE65-4ECC-FD0C1541A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A9E4E-91EF-FF22-1080-89185FFF7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1BCA4-731B-E2CD-103D-BA581DEC5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67D97-A5E9-C428-7DC8-1387D0D2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BF24B-E510-4226-AC2B-04A60618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2F16B-1276-8E80-95C4-4E686FB4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8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A728-29BA-8D98-AB74-161380A6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9F443-B1DE-AAD1-6F68-57053714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FD7F9-29A4-D72D-5117-F69342BD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760E4-C4FC-F05B-A64E-2F9B34E4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5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EADF5-3A75-FEC0-F905-3527FA89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D1A10-7D2E-C20D-9439-85F2198C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B9D7-3082-828F-81DA-1B9BC459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5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FB6E-7A5D-D8A1-E27F-68786DA1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2B19D-C113-653C-C6E5-A8C00EAB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DE20C-9F84-5FFB-DC80-49116C108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3FAF-AEDB-CF22-FF65-E237E0AA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D4EB2-78B0-1715-881E-CEBAB2BE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381A5-5E71-429A-84A1-91BEDE08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1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704B-0368-BB5D-4F97-A25DB736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75359-A449-FA07-542F-8BEB76B33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48536-0FB8-3673-B2E8-495510C7B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06888-D5AF-E0C6-E021-ED6001B0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7C2CB-6CE1-424E-5C2A-F37C2D19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E8FD8-C081-B0DD-AE94-9C3C0511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5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B3D6-688F-8CC1-5408-395B8762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02319-7502-AED7-8A87-7C6ED9104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3A4B4-05CC-3BD9-9AFE-05D57A03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89FC-8ECE-DBD4-4777-66157C66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640C-34B6-1777-7298-46CB91F5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4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3338F-EE19-52B3-2734-A47AD2EB8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7E794-163A-5D99-6F07-7E7E8B896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D2550-5C3E-8928-0BD4-78409825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EC18-E0B6-6653-FFE3-75F961FD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E6FD-B742-E307-5519-8CCCA9B5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9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2C408-F99D-D369-793A-53A0AF99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4EF9-A4AE-BCE8-AC31-651395EFD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F66D-375E-DD8A-BB08-81A99AB69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26E1D-AFF7-42F6-A72A-8CE52A2B38C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8F44B-F1E6-EE88-FFEC-25D1E7BFB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1D63-501A-E91F-DF2B-4557C352C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3A9F-66D5-D6D4-88FE-68000B2D0E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</a:rPr>
              <a:t>Data Collection Session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905D9-139C-84AA-E8C9-B1DBA1AD9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Segoe UI" panose="020B0502040204020203" pitchFamily="34" charset="0"/>
              </a:rPr>
              <a:t>Driver Monitoring System</a:t>
            </a:r>
          </a:p>
          <a:p>
            <a:r>
              <a:rPr lang="en-GB" sz="2000" dirty="0">
                <a:latin typeface="Segoe UI" panose="020B0502040204020203" pitchFamily="34" charset="0"/>
              </a:rPr>
              <a:t>University of St. Thomas</a:t>
            </a:r>
          </a:p>
          <a:p>
            <a:endParaRPr lang="en-GB" sz="2000" dirty="0">
              <a:latin typeface="Segoe UI" panose="020B0502040204020203" pitchFamily="34" charset="0"/>
            </a:endParaRPr>
          </a:p>
          <a:p>
            <a:r>
              <a:rPr lang="en-GB" sz="2000" dirty="0" err="1">
                <a:latin typeface="Segoe UI" panose="020B0502040204020203" pitchFamily="34" charset="0"/>
              </a:rPr>
              <a:t>Khongmeng</a:t>
            </a:r>
            <a:r>
              <a:rPr lang="en-GB" sz="2000" dirty="0">
                <a:latin typeface="Segoe UI" panose="020B0502040204020203" pitchFamily="34" charset="0"/>
              </a:rPr>
              <a:t> </a:t>
            </a:r>
            <a:r>
              <a:rPr lang="en-GB" sz="2000" dirty="0" err="1">
                <a:latin typeface="Segoe UI" panose="020B0502040204020203" pitchFamily="34" charset="0"/>
              </a:rPr>
              <a:t>Kormoua</a:t>
            </a:r>
            <a:endParaRPr lang="en-US" sz="200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65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613DA-A252-1DC3-5F12-A3CE5F0F5EF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5F1AE-5273-7743-DB72-841546E3E3C9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Before the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0F361-4BEC-C835-0B1C-DA1F37DE7677}"/>
              </a:ext>
            </a:extLst>
          </p:cNvPr>
          <p:cNvSpPr txBox="1"/>
          <p:nvPr/>
        </p:nvSpPr>
        <p:spPr>
          <a:xfrm>
            <a:off x="508000" y="1270000"/>
            <a:ext cx="5334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</a:rPr>
              <a:t>Confirm the rig is ready:</a:t>
            </a:r>
          </a:p>
          <a:p>
            <a:endParaRPr lang="en-GB" sz="1600" dirty="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</a:rPr>
              <a:t>- Camera mounted and aimed at the driver seat.</a:t>
            </a:r>
          </a:p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</a:rPr>
              <a:t>- Driver's face fully in frame at typical posture.</a:t>
            </a:r>
          </a:p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</a:rPr>
              <a:t>- Jetson powered and the display connected (Jetson is connected to the right monitor).</a:t>
            </a:r>
          </a:p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</a:rPr>
              <a:t>- PC powered, monitor on, wheel + pedals should be connected.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50E5F4-4249-F8AA-8BD1-00B82CC6C14B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Hardware setup overview photo (e.g., Hardware_setup_v1.jpg from docs/manual/pics).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2E60D1-7993-3271-DD0D-4D9212895FB6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574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EF3273-41BF-BF81-8C92-BA83BF9490C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4D5B3-5E33-C877-949B-E0009EBF1E01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Power up the Jetson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DDE04-B4A5-06CD-ADC7-ABB852E75832}"/>
              </a:ext>
            </a:extLst>
          </p:cNvPr>
          <p:cNvSpPr txBox="1"/>
          <p:nvPr/>
        </p:nvSpPr>
        <p:spPr>
          <a:xfrm>
            <a:off x="508000" y="1270000"/>
            <a:ext cx="5334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On the Jetson:</a:t>
            </a:r>
          </a:p>
          <a:p>
            <a:endParaRPr lang="en-US" sz="1600" dirty="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1. Connect power wire to jetson. Wait for the desktop.</a:t>
            </a:r>
          </a:p>
          <a:p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2. Open a terminal (Files &gt; right click &gt; Open Terminal, or </a:t>
            </a:r>
            <a:r>
              <a:rPr lang="en-US" sz="1600" dirty="0" err="1">
                <a:solidFill>
                  <a:srgbClr val="404040"/>
                </a:solidFill>
                <a:latin typeface="Segoe UI" panose="020B0502040204020203" pitchFamily="34" charset="0"/>
              </a:rPr>
              <a:t>Ctrl+Alt+T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).</a:t>
            </a:r>
          </a:p>
          <a:p>
            <a:endParaRPr lang="en-US" sz="1600" dirty="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If the camera is not detected later, the IMX477 jetson-io setting may have reset after an L4T update. Fix:</a:t>
            </a:r>
          </a:p>
          <a:p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  </a:t>
            </a:r>
            <a:r>
              <a:rPr lang="en-US" sz="1600" dirty="0" err="1">
                <a:solidFill>
                  <a:srgbClr val="404040"/>
                </a:solidFill>
                <a:latin typeface="Segoe UI" panose="020B0502040204020203" pitchFamily="34" charset="0"/>
              </a:rPr>
              <a:t>sudo</a:t>
            </a:r>
            <a:r>
              <a:rPr lang="en-US" sz="1600" dirty="0">
                <a:solidFill>
                  <a:srgbClr val="404040"/>
                </a:solidFill>
                <a:latin typeface="Segoe UI" panose="020B0502040204020203" pitchFamily="34" charset="0"/>
              </a:rPr>
              <a:t> /opt/nvidia/jetson-io/jetson-io.py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393D3E-9A6D-BC13-7D49-614F8BA61F76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Jetson Linux desktop with a terminal window open.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5DE802-67FD-DADE-A84E-E8E517B92A34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907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ABBA-C721-A042-6D19-203D58816AF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B72EC-1A2A-FA85-816E-7F2680D1F015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Launch the recorder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9F1AE-6046-FCF3-5752-359222F32BF0}"/>
              </a:ext>
            </a:extLst>
          </p:cNvPr>
          <p:cNvSpPr txBox="1"/>
          <p:nvPr/>
        </p:nvSpPr>
        <p:spPr>
          <a:xfrm>
            <a:off x="508000" y="1270000"/>
            <a:ext cx="5334000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In the terminal: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cd ~/Meng/driver-attn-monitor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./tools/start_recording.sh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The launcher activates the dms-infer conda env and opens the DMS Recorder window.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If dms-infer is missing, it falls back to the mp env. You should see one of: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[launcher] activated env: dms-infer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[launcher] activated env: mp (legacy fallback)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F1811C-5A73-B8D1-D16A-2420DED123C5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Terminal showing: [launcher] activated env: dms-infer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827D29-9891-FB2F-5CED-71F8DA84CB9C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584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084B30-96BA-17E5-0C4E-3228D53D02B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E77B8-0FF6-BAFD-E3CF-27DCDF7D5CEA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The DMS Recorder window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4C03D-EECB-E43D-96F0-935BFC2E1D55}"/>
              </a:ext>
            </a:extLst>
          </p:cNvPr>
          <p:cNvSpPr txBox="1"/>
          <p:nvPr/>
        </p:nvSpPr>
        <p:spPr>
          <a:xfrm>
            <a:off x="508000" y="1270000"/>
            <a:ext cx="5334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The window has two panels: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LEFT: live camera preview. A red dot appears here while recording.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RIGHT: status panel + buttons.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Do NOT click Start yet. Wait for the simulator to be ready (next steps).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A60ECD-2846-AF32-E722-D934DAF41CE3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DMS Recorder window with numbered callouts pointing to: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1) Live preview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2) Status (IDLE / REC)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3) Elapsed time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4) Recording-to file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5) Last saved file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6) Start / Stop Recording button</a:t>
            </a: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7) Quit button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09BB3A-CD92-0FB8-AD57-37E37B2651BE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315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35EB2E-9E44-A9DB-900F-26BD2E1F9A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88727-548F-37C9-8EDA-2746D3129351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202020"/>
                </a:solidFill>
                <a:latin typeface="Segoe UI" panose="020B0502040204020203" pitchFamily="34" charset="0"/>
              </a:rPr>
              <a:t>Launch Assetto Corsa on the PC</a:t>
            </a:r>
            <a:endParaRPr lang="en-US" sz="2800" b="1">
              <a:solidFill>
                <a:srgbClr val="20202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B7A69-3AE8-B1C0-1C76-1F272BE71F1D}"/>
              </a:ext>
            </a:extLst>
          </p:cNvPr>
          <p:cNvSpPr txBox="1"/>
          <p:nvPr/>
        </p:nvSpPr>
        <p:spPr>
          <a:xfrm>
            <a:off x="508000" y="1270000"/>
            <a:ext cx="5334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On the PC: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1. Power on (if not already) and log in.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2. Launch Assetto Corsa via (TODO: Steam / desktop shortcut).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0722E2-05D0-D460-1727-6A8476D6B925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Assetto Corsa main menu.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B8E348-1470-15B0-0B75-63F3E20C7FAF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960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1A266-CDF4-6731-E456-69380112B53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C58F6-A2C9-3385-0750-D19944FC1BD8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Configure the AC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12992-1CB1-0DE9-E5F9-08F295309545}"/>
              </a:ext>
            </a:extLst>
          </p:cNvPr>
          <p:cNvSpPr txBox="1"/>
          <p:nvPr/>
        </p:nvSpPr>
        <p:spPr>
          <a:xfrm>
            <a:off x="508000" y="1270000"/>
            <a:ext cx="5334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Lock these in and use the SAME values every session. Consistency matters for labeling.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Mode:   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Track:  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Layout: 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Car:    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Time of day: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Weather: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AI:          (TODO)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Assists:     (TODO)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Load into the car. Pause on the grid; do not drive yet.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48EFE6-7FC2-F883-6415-3C0E454B777F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Assetto Corsa session configuration screen with the chosen settings.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9ED811-8E52-9969-CDD8-1E953D180CAF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399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367F0-8C5F-F63C-9177-79613DB0D3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F8377-2B8F-51CE-6816-593B12B0DC95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Start the recording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879F7-B153-1402-0FD9-61F8EECC6D7F}"/>
              </a:ext>
            </a:extLst>
          </p:cNvPr>
          <p:cNvSpPr txBox="1"/>
          <p:nvPr/>
        </p:nvSpPr>
        <p:spPr>
          <a:xfrm>
            <a:off x="508000" y="1270000"/>
            <a:ext cx="5334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1. Driver gets into position at the wheel.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2. On the Jetson recorder, click Start Recording.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Status flips to REC (red)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Elapsed counter starts at 00:00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File rec_&lt;timestamp&gt;.mp4 appears under 'Recording to'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Terminal prints: [REC] start -&gt; recordings/rec_...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3. On the PC: unpause AC and start driving.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3803FA-6C01-AE4B-7D7F-EBBFB3AE56EC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Recorder showing red dot on preview + Status: REC + counter ticking + filename under 'Recording to'.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9F34F7-34DA-AF39-1CB8-8835DB00673B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823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8B4C99-FC73-2761-A4E7-8401E8554DF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5DA9F-E7F6-ADF2-9E88-8FE991FC5D69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During the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08F1-6EC1-4BCF-BC48-94864CDFFFC2}"/>
              </a:ext>
            </a:extLst>
          </p:cNvPr>
          <p:cNvSpPr txBox="1"/>
          <p:nvPr/>
        </p:nvSpPr>
        <p:spPr>
          <a:xfrm>
            <a:off x="508000" y="1270000"/>
            <a:ext cx="5334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Driver runs the planned scenario: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(TODO: laps / events / distractions / drowsiness prompts).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Periodically check the recorder from a non-distracting angle: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Status must still read REC (red)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- Timer must still be counting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If the status ever shows IDLE mid-session, recording has stopped. Note the time and decide whether to restart.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8FAA8A-56DD-D9F1-8A88-AEC5F3646FC2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Side-by-side: AC gameplay + the Jetson recorder still showing REC + ticking timer.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796A4-A104-FCE7-1C0C-BEB40DF81E36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2001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FD9DA-5A60-FC47-D526-76153125128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DBF98-5F5C-4E33-3D68-5116C101E74A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End the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9F108-C7EB-5375-E818-1CC3B698B70D}"/>
              </a:ext>
            </a:extLst>
          </p:cNvPr>
          <p:cNvSpPr txBox="1"/>
          <p:nvPr/>
        </p:nvSpPr>
        <p:spPr>
          <a:xfrm>
            <a:off x="508000" y="1270000"/>
            <a:ext cx="5334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1. On the recorder, click Stop Recording.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Status returns to IDLE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Filename moves down to 'Last saved'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- Terminal prints: [REC] stop -&gt; recordings/rec_...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2. Click Quit (or close the window).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3. On the PC: stop / exit Assetto Corsa.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3E456A-A57F-F063-D3C7-1234FD41E3E8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Recorder window with Stop just clicked. Status back to IDLE, filename under 'Last saved'.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B208DD-F4A8-7912-C73D-04A2232BB4E6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2377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58B6C9-05F0-0394-06B1-76DF3CF25C7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E50AC-1E07-358A-E9D7-096137CDD45C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After the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1A383-26D2-E851-1E59-86BD8CE5D4C1}"/>
              </a:ext>
            </a:extLst>
          </p:cNvPr>
          <p:cNvSpPr txBox="1"/>
          <p:nvPr/>
        </p:nvSpPr>
        <p:spPr>
          <a:xfrm>
            <a:off x="508000" y="1270000"/>
            <a:ext cx="5334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1. Verify the recording plays end-to-end (double-click the .mp4).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2. Log metadata for the session: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(TODO: spreadsheet / sidecar JSON / lab notebook).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Suggested fields: date, participant ID, track, car, settings, scenario, anomalies.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3. Back up the file to:</a:t>
            </a: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   (TODO: external drive / lab NAS / cloud).</a:t>
            </a:r>
          </a:p>
          <a:p>
            <a:endParaRPr lang="en-GB" sz="1600">
              <a:solidFill>
                <a:srgbClr val="404040"/>
              </a:solidFill>
              <a:latin typeface="Segoe UI" panose="020B0502040204020203" pitchFamily="34" charset="0"/>
            </a:endParaRPr>
          </a:p>
          <a:p>
            <a:r>
              <a:rPr lang="en-GB" sz="1600">
                <a:solidFill>
                  <a:srgbClr val="404040"/>
                </a:solidFill>
                <a:latin typeface="Segoe UI" panose="020B0502040204020203" pitchFamily="34" charset="0"/>
              </a:rPr>
              <a:t>recordings/ is gitignored. Files stay local to the Jetson until backed up.</a:t>
            </a:r>
            <a:endParaRPr lang="en-US" sz="1600">
              <a:solidFill>
                <a:srgbClr val="40404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878C61-6DF5-BBC3-F91F-D4D458121EE4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GB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sz="1600" i="1">
                <a:solidFill>
                  <a:srgbClr val="666666"/>
                </a:solidFill>
                <a:latin typeface="Segoe UI" panose="020B0502040204020203" pitchFamily="34" charset="0"/>
              </a:rPr>
              <a:t>File manager view of /recordings/ showing the new rec_YYYYMMDD_HHMMSS.mp4.</a:t>
            </a:r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15A279-8E4D-6DE3-16BE-1EE064049C21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144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F8ECF-7F49-7207-46E7-E5A5AC107D0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3D24C-7A72-21EA-227C-5B8A850F1896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02020"/>
                </a:solidFill>
                <a:latin typeface="Segoe UI" panose="020B0502040204020203" pitchFamily="34" charset="0"/>
              </a:rPr>
              <a:t>Troubleshooting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D2F95-F061-DB75-E688-7DFAD5330FCC}"/>
              </a:ext>
            </a:extLst>
          </p:cNvPr>
          <p:cNvSpPr txBox="1"/>
          <p:nvPr/>
        </p:nvSpPr>
        <p:spPr>
          <a:xfrm>
            <a:off x="508000" y="1270000"/>
            <a:ext cx="5334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Segoe UI" panose="020B0502040204020203" pitchFamily="34" charset="0"/>
              </a:rPr>
              <a:t>- Recorder window does not open: launch from a terminal so the error is visible. Pause-on-exit is built into start_recording.sh; read the message before closing.</a:t>
            </a:r>
          </a:p>
          <a:p>
            <a:r>
              <a:rPr lang="en-US" sz="1600">
                <a:solidFill>
                  <a:srgbClr val="404040"/>
                </a:solidFill>
                <a:latin typeface="Segoe UI" panose="020B0502040204020203" pitchFamily="34" charset="0"/>
              </a:rPr>
              <a:t>- Camera not detected: rerun sudo /opt/nvidia/jetson-io/jetson-io.py, select IMX477, reboot.</a:t>
            </a:r>
          </a:p>
          <a:p>
            <a:r>
              <a:rPr lang="en-US" sz="1600">
                <a:solidFill>
                  <a:srgbClr val="404040"/>
                </a:solidFill>
                <a:latin typeface="Segoe UI" panose="020B0502040204020203" pitchFamily="34" charset="0"/>
              </a:rPr>
              <a:t>- ModuleNotFoundError: PIL -&gt; pip install pillow inside the dms-infer env.</a:t>
            </a:r>
          </a:p>
          <a:p>
            <a:r>
              <a:rPr lang="en-US" sz="1600">
                <a:solidFill>
                  <a:srgbClr val="404040"/>
                </a:solidFill>
                <a:latin typeface="Segoe UI" panose="020B0502040204020203" pitchFamily="34" charset="0"/>
              </a:rPr>
              <a:t>- Dropped frames at 720p30 -&gt; swap CPU mp4v writer for GStreamer + nvv4l2h264enc.</a:t>
            </a:r>
          </a:p>
          <a:p>
            <a:r>
              <a:rPr lang="en-US" sz="1600">
                <a:solidFill>
                  <a:srgbClr val="404040"/>
                </a:solidFill>
                <a:latin typeface="Segoe UI" panose="020B0502040204020203" pitchFamily="34" charset="0"/>
              </a:rPr>
              <a:t>- All camera params (resolution, fps, sensor id, flip) live in config.yaml. Edit there, not in tools/record.py.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81CD1E-C59D-A5B5-8549-3438669F37F7}"/>
              </a:ext>
            </a:extLst>
          </p:cNvPr>
          <p:cNvSpPr/>
          <p:nvPr/>
        </p:nvSpPr>
        <p:spPr>
          <a:xfrm>
            <a:off x="6223000" y="1270000"/>
            <a:ext cx="5461000" cy="482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[ SCREENSHOT PLACEHOLDER ]</a:t>
            </a:r>
          </a:p>
          <a:p>
            <a:pPr algn="ctr"/>
            <a:endParaRPr lang="en-US" sz="1600" i="1">
              <a:solidFill>
                <a:srgbClr val="666666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600" i="1">
                <a:solidFill>
                  <a:srgbClr val="666666"/>
                </a:solidFill>
                <a:latin typeface="Segoe UI" panose="020B0502040204020203" pitchFamily="34" charset="0"/>
              </a:rPr>
              <a:t>Optional: screenshot of a relevant error message (camera failure, PIL ModuleNotFoundError, etc.).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5F8382-51A3-4F63-E106-9FA2CA80786B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382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1055</Words>
  <Application>Microsoft Office PowerPoint</Application>
  <PresentationFormat>Widescreen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Office Theme</vt:lpstr>
      <vt:lpstr>Data Collection Session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giridhar Addagudi</dc:creator>
  <cp:lastModifiedBy>giridhar Addagudi</cp:lastModifiedBy>
  <cp:revision>2</cp:revision>
  <dcterms:created xsi:type="dcterms:W3CDTF">2026-05-13T15:29:03Z</dcterms:created>
  <dcterms:modified xsi:type="dcterms:W3CDTF">2026-05-13T15:34:18Z</dcterms:modified>
</cp:coreProperties>
</file>
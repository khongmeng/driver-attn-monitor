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5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74" r:id="rId13"/>
    <p:sldId id="276" r:id="rId14"/>
    <p:sldId id="277" r:id="rId15"/>
    <p:sldId id="278" r:id="rId16"/>
    <p:sldId id="280" r:id="rId17"/>
    <p:sldId id="2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2CBB3-ADB4-44F7-6BE9-DB8907FCC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1CE4B-F25B-8A0F-E980-B308B9584B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6D32D-7AB3-5B0D-A6ED-A18DFDEC7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F699C-ADC3-00ED-D626-BE1EF5068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63370-58D1-C132-AF68-7A746636C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265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892D2-AD9D-4201-34AF-7987AA1A2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DD42F-E67E-063E-7A51-D4B6D8E67A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6667B-E2C6-6381-9FDF-471F9C8B8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F4C90-41A8-6627-A200-2A5B8F58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0E8DF-B891-E14D-B961-447E1F19B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8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BC02-E002-705D-AA15-D1AC6C918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7F80F-BA3A-A919-FCBC-D586E2F7B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A116A-107A-DEFC-D269-E7BA3CADE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1C579-7E2C-7C62-B435-C0C8DF3B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6C49A-11A1-CAD7-9DD2-F06886FF8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52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35683-48F8-5B1C-8FD0-EBC7E2E1C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15FFA-29E0-12D3-891E-72B10AF568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6742B-BF72-1ED0-AC1D-F2D3F6D87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208AA-EDAF-3742-60C9-D0D5CA2C4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7F2D9-A74C-B8D0-56ED-8BAC92108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88F7E-D735-4651-3E6C-015CB6AE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9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E9509-41DE-9000-EDD4-04AB53C64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B0D64-FE3C-CC45-E8C3-7369CF4D1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F9598B-4ED7-EE65-4ECC-FD0C1541A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A9E4E-91EF-FF22-1080-89185FFF74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1BCA4-731B-E2CD-103D-BA581DEC5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67D97-A5E9-C428-7DC8-1387D0D2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1BF24B-E510-4226-AC2B-04A60618C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D2F16B-1276-8E80-95C4-4E686FB49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87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1A728-29BA-8D98-AB74-161380A66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B9F443-B1DE-AAD1-6F68-57053714F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FFD7F9-29A4-D72D-5117-F69342BD2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6760E4-C4FC-F05B-A64E-2F9B34E41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057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5EADF5-3A75-FEC0-F905-3527FA894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2D1A10-7D2E-C20D-9439-85F2198CD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8B9D7-3082-828F-81DA-1B9BC459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53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7FB6E-7A5D-D8A1-E27F-68786DA10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2B19D-C113-653C-C6E5-A8C00EAB9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DE20C-9F84-5FFB-DC80-49116C108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B3FAF-AEDB-CF22-FF65-E237E0AA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D4EB2-78B0-1715-881E-CEBAB2BE6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381A5-5E71-429A-84A1-91BEDE083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1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704B-0368-BB5D-4F97-A25DB7365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75359-A449-FA07-542F-8BEB76B33B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48536-0FB8-3673-B2E8-495510C7B5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06888-D5AF-E0C6-E021-ED6001B0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7C2CB-6CE1-424E-5C2A-F37C2D193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EE8FD8-C081-B0DD-AE94-9C3C0511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350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FB3D6-688F-8CC1-5408-395B87624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402319-7502-AED7-8A87-7C6ED9104A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3A4B4-05CC-3BD9-9AFE-05D57A033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B89FC-8ECE-DBD4-4777-66157C664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3640C-34B6-1777-7298-46CB91F5F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43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C3338F-EE19-52B3-2734-A47AD2EB8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7E794-163A-5D99-6F07-7E7E8B896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D2550-5C3E-8928-0BD4-784098253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26E1D-AFF7-42F6-A72A-8CE52A2B38C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DEC18-E0B6-6653-FFE3-75F961FD3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5E6FD-B742-E307-5519-8CCCA9B50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891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E2C408-F99D-D369-793A-53A0AF99C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84EF9-A4AE-BCE8-AC31-651395EFD7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1F66D-375E-DD8A-BB08-81A99AB69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26E1D-AFF7-42F6-A72A-8CE52A2B38CD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8F44B-F1E6-EE88-FFEC-25D1E7BFB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71D63-501A-E91F-DF2B-4557C352C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599815-4DF2-4C10-993F-F257E67BB3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63A9F-66D5-D6D4-88FE-68000B2D0E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Segoe UI" panose="020B0502040204020203" pitchFamily="34" charset="0"/>
              </a:rPr>
              <a:t>Initial Setup and Training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3905D9-139C-84AA-E8C9-B1DBA1AD9D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000" dirty="0">
                <a:latin typeface="Segoe UI" panose="020B0502040204020203" pitchFamily="34" charset="0"/>
              </a:rPr>
              <a:t>Driver Monitoring System</a:t>
            </a:r>
          </a:p>
          <a:p>
            <a:r>
              <a:rPr lang="en-GB" sz="2000" dirty="0">
                <a:latin typeface="Segoe UI" panose="020B0502040204020203" pitchFamily="34" charset="0"/>
              </a:rPr>
              <a:t>University of St. Thomas</a:t>
            </a:r>
          </a:p>
          <a:p>
            <a:endParaRPr lang="en-GB" sz="2000" dirty="0">
              <a:latin typeface="Segoe UI" panose="020B0502040204020203" pitchFamily="34" charset="0"/>
            </a:endParaRPr>
          </a:p>
          <a:p>
            <a:r>
              <a:rPr lang="en-GB" sz="2000" dirty="0" err="1">
                <a:latin typeface="Segoe UI" panose="020B0502040204020203" pitchFamily="34" charset="0"/>
              </a:rPr>
              <a:t>Khongmeng</a:t>
            </a:r>
            <a:r>
              <a:rPr lang="en-GB" sz="2000" dirty="0">
                <a:latin typeface="Segoe UI" panose="020B0502040204020203" pitchFamily="34" charset="0"/>
              </a:rPr>
              <a:t> </a:t>
            </a:r>
            <a:r>
              <a:rPr lang="en-GB" sz="2000" dirty="0" err="1">
                <a:latin typeface="Segoe UI" panose="020B0502040204020203" pitchFamily="34" charset="0"/>
              </a:rPr>
              <a:t>Kormoua</a:t>
            </a:r>
            <a:endParaRPr lang="en-US" sz="2000" dirty="0"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658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EF3273-41BF-BF81-8C92-BA83BF9490C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4D5B3-5E33-C877-949B-E0009EBF1E01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Pipeline Architecture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5DE802-67FD-DADE-A84E-E8E517B92A34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1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BEFF52-B425-89B5-23B0-6306800FD515}"/>
              </a:ext>
            </a:extLst>
          </p:cNvPr>
          <p:cNvCxnSpPr>
            <a:cxnSpLocks/>
          </p:cNvCxnSpPr>
          <p:nvPr/>
        </p:nvCxnSpPr>
        <p:spPr>
          <a:xfrm>
            <a:off x="10477500" y="4305300"/>
            <a:ext cx="895350" cy="433645"/>
          </a:xfrm>
          <a:prstGeom prst="straightConnector1">
            <a:avLst/>
          </a:prstGeom>
          <a:ln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F8DB936-4F2E-BB9F-0A22-C5EF1977FD90}"/>
              </a:ext>
            </a:extLst>
          </p:cNvPr>
          <p:cNvSpPr txBox="1"/>
          <p:nvPr/>
        </p:nvSpPr>
        <p:spPr>
          <a:xfrm>
            <a:off x="8874125" y="3679179"/>
            <a:ext cx="2051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1. Double click to open recording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99531D-34A3-84A0-21D9-0E768FCAF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050" y="1466327"/>
            <a:ext cx="8426450" cy="462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079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DFD9DA-5A60-FC47-D526-76153125128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8DBF98-5F5C-4E33-3D68-5116C101E74A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09F108-C7EB-5375-E818-1CC3B698B70D}"/>
              </a:ext>
            </a:extLst>
          </p:cNvPr>
          <p:cNvSpPr txBox="1"/>
          <p:nvPr/>
        </p:nvSpPr>
        <p:spPr>
          <a:xfrm>
            <a:off x="508000" y="1638856"/>
            <a:ext cx="8210997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04040"/>
                </a:solidFill>
                <a:latin typeface="Inter" panose="02000503000000020004" pitchFamily="2" charset="0"/>
                <a:ea typeface="Inter" panose="02000503000000020004" pitchFamily="2" charset="0"/>
              </a:rPr>
              <a:t>Training: 10 drivers (169k frames, 3.2hrs)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04040"/>
                </a:solidFill>
                <a:latin typeface="Inter" panose="02000503000000020004" pitchFamily="2" charset="0"/>
                <a:ea typeface="Inter" panose="02000503000000020004" pitchFamily="2" charset="0"/>
              </a:rPr>
              <a:t>Evaluate: 4 drivers (49k frames, 55mns)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rgbClr val="40404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1B208DD-F4A8-7912-C73D-04A2232BB4E6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2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1B9C720-36D2-1BB2-8153-ADF226339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5469522"/>
              </p:ext>
            </p:extLst>
          </p:nvPr>
        </p:nvGraphicFramePr>
        <p:xfrm>
          <a:off x="2032000" y="2941272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4883491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10707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Distribution [%]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64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836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Distracted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68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Drowsy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312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950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3778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E9EA9-66F5-A302-36CC-B594DA53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98E651-0D8B-E6B4-AD6F-447B7440ADB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96D36-ECE9-3F37-FFA1-9A39BD004361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Training Setup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887161-8854-FBE6-4427-2EDE603B4DF8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3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60C6B0-B2D3-155E-BC18-667DC8E674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1227989"/>
              </p:ext>
            </p:extLst>
          </p:nvPr>
        </p:nvGraphicFramePr>
        <p:xfrm>
          <a:off x="1922530" y="1363610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7345658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043269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333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Epoch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1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Optimizer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8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1e-3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203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714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Loss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Cross entropy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591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Standard (mean, std)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186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3073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79E5B-E5A1-6B40-7F38-12A0B30C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2755D6-D1A0-23FD-EFB8-DDAEC2D53FD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0A79F0-D627-5283-FF3F-CDFD2C766B86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Result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4E1C441-382B-BA04-EF13-5B255FFC9671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4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F6C651-41F7-0357-7B57-81F548363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596681"/>
              </p:ext>
            </p:extLst>
          </p:nvPr>
        </p:nvGraphicFramePr>
        <p:xfrm>
          <a:off x="1922530" y="136361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734565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43269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552923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3297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333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Distracted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1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8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Drowsy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.017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203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2714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066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B8FEA-D259-5FD6-D51E-F92D8B3C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60A1FD-6261-D3B7-56DA-67E1F1F3BF0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D673C4-B175-7030-C7B7-939949F63A85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Dataset – Binary Classification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17E9C1-3B3D-F7C5-036A-71308F322E52}"/>
              </a:ext>
            </a:extLst>
          </p:cNvPr>
          <p:cNvSpPr txBox="1"/>
          <p:nvPr/>
        </p:nvSpPr>
        <p:spPr>
          <a:xfrm>
            <a:off x="508000" y="1638856"/>
            <a:ext cx="8210997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04040"/>
                </a:solidFill>
                <a:latin typeface="Inter" panose="02000503000000020004" pitchFamily="2" charset="0"/>
                <a:ea typeface="Inter" panose="02000503000000020004" pitchFamily="2" charset="0"/>
              </a:rPr>
              <a:t>Training: 10 drivers (169k frames, 3.2hrs)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04040"/>
                </a:solidFill>
                <a:latin typeface="Inter" panose="02000503000000020004" pitchFamily="2" charset="0"/>
                <a:ea typeface="Inter" panose="02000503000000020004" pitchFamily="2" charset="0"/>
              </a:rPr>
              <a:t>Evaluate: 4 drivers (49k frames, 55mns)</a:t>
            </a:r>
          </a:p>
          <a:p>
            <a:pPr marL="342900" indent="-342900">
              <a:buFont typeface="+mj-lt"/>
              <a:buAutoNum type="arabicPeriod"/>
            </a:pPr>
            <a:endParaRPr lang="en-US" sz="2000" dirty="0">
              <a:solidFill>
                <a:srgbClr val="40404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1F60AE8-2FEB-4A31-9A27-EDECD9BB496F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5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495E1BA-738F-202F-158A-A952A0483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624908"/>
              </p:ext>
            </p:extLst>
          </p:nvPr>
        </p:nvGraphicFramePr>
        <p:xfrm>
          <a:off x="2032000" y="2941272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4883491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3107076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Distribution [%]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064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Attentive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3836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Inattentive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683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8483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B48BD-58B0-C065-06FD-389375A48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C8FBA59-5322-0B62-C8E0-0973125D718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48CD9-18F6-3C19-C8E3-CD868AC4CF3C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Result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793399F-CEA0-CF4B-0BAB-32F5E3D52B76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12566F-BF00-DD84-A7F4-DCAF2F4A2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697124"/>
              </p:ext>
            </p:extLst>
          </p:nvPr>
        </p:nvGraphicFramePr>
        <p:xfrm>
          <a:off x="1922530" y="136361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734565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43269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552923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3297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333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Attentive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1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Inattentive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80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4368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B68BD-9F18-0D6F-EB47-6572F9FA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FD1272-7FD2-C302-CA58-F5A9717A792D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379470-B478-84C0-C70B-1177A80B0CA8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Result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30116B-B000-E070-36D6-D20773FB4CDF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525D810-2276-D2A8-EB54-5997C1EFF030}"/>
              </a:ext>
            </a:extLst>
          </p:cNvPr>
          <p:cNvGraphicFramePr>
            <a:graphicFrameLocks noGrp="1"/>
          </p:cNvGraphicFramePr>
          <p:nvPr/>
        </p:nvGraphicFramePr>
        <p:xfrm>
          <a:off x="1922530" y="136361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734565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43269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552923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3297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333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Attentive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1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Inattentive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80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379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5AF93-EBB9-B32C-0AF4-CD1B2F01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8D111E-6993-9D12-C473-D5F5936509E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99BBDC-ED26-584F-CEE6-A4238B2117DB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PIPELINE V2: Add more temporal features aggregation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E795E51-D71C-054D-B388-1596448A8E33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3DE263-563A-E038-858A-75300A415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125" y="1729466"/>
            <a:ext cx="7089612" cy="38902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780D9FE-5154-54B2-734A-C8D5CB1302F8}"/>
              </a:ext>
            </a:extLst>
          </p:cNvPr>
          <p:cNvSpPr txBox="1"/>
          <p:nvPr/>
        </p:nvSpPr>
        <p:spPr>
          <a:xfrm>
            <a:off x="8489950" y="1835706"/>
            <a:ext cx="3054797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4040"/>
                </a:solidFill>
                <a:latin typeface="Inter" panose="02000503000000020004" pitchFamily="2" charset="0"/>
                <a:ea typeface="Inter" panose="02000503000000020004" pitchFamily="2" charset="0"/>
              </a:rPr>
              <a:t>Loss focal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4040"/>
                </a:solidFill>
                <a:latin typeface="Inter" panose="02000503000000020004" pitchFamily="2" charset="0"/>
                <a:ea typeface="Inter" panose="02000503000000020004" pitchFamily="2" charset="0"/>
              </a:rPr>
              <a:t>Weight power 0.3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04040"/>
                </a:solidFill>
                <a:latin typeface="Inter" panose="02000503000000020004" pitchFamily="2" charset="0"/>
                <a:ea typeface="Inter" panose="02000503000000020004" pitchFamily="2" charset="0"/>
              </a:rPr>
              <a:t>Evaluate with smooth window (30s)</a:t>
            </a:r>
          </a:p>
          <a:p>
            <a:pPr marL="342900" indent="-342900">
              <a:buFont typeface="+mj-lt"/>
              <a:buAutoNum type="arabicPeriod"/>
            </a:pPr>
            <a:endParaRPr lang="en-US" sz="1200" dirty="0">
              <a:solidFill>
                <a:srgbClr val="40404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9024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AA700-A25C-01E6-446D-238F1AE51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47371D-5F7A-58B0-28A7-74595ED9040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8F55DF-15A5-980F-4A95-668957410FCF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Result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2E0ADD-21AF-6508-28DB-F2619CA7B121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EB3915F-9E73-2931-6D9F-96864C4E0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875430"/>
              </p:ext>
            </p:extLst>
          </p:nvPr>
        </p:nvGraphicFramePr>
        <p:xfrm>
          <a:off x="1922530" y="136361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734565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43269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552923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3297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333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Baseline (4 states)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1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Baseline (2 states)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8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V2 (3 states)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37542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7C9EFDB-6092-A569-B1C1-8DF7AC476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16955"/>
              </p:ext>
            </p:extLst>
          </p:nvPr>
        </p:nvGraphicFramePr>
        <p:xfrm>
          <a:off x="1922530" y="373851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734565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43269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552923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3297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333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Distracted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1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8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Fatique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0.494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203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548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06A28-DB3A-CC2F-3125-15393EF00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65D0DA-A549-032A-472C-66C75A71EB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839C1C-111B-CF40-C7C6-9BD786E749E6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3-states: </a:t>
            </a:r>
            <a:r>
              <a:rPr lang="en-US" sz="2800" b="1" dirty="0" err="1">
                <a:solidFill>
                  <a:srgbClr val="202020"/>
                </a:solidFill>
                <a:latin typeface="Segoe UI" panose="020B0502040204020203" pitchFamily="34" charset="0"/>
              </a:rPr>
              <a:t>undersample</a:t>
            </a:r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 focus and distracted data.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4325364-5A53-9C36-94B5-CD2FCD6C2A72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F7283FC-7D55-BA8D-CE48-3101A4A02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05132"/>
              </p:ext>
            </p:extLst>
          </p:nvPr>
        </p:nvGraphicFramePr>
        <p:xfrm>
          <a:off x="1922530" y="136361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734565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43269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552923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3297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333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1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Distracted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8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Fatiqued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375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133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86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6DD33-4696-1B17-DE02-432BCB19F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5A4501-57FD-CF64-253C-C205E4F7E79A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AF9D4-6024-30B4-5670-4D16484F2194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3-states: all data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BD1F973-EA3A-A808-F153-C991F1F0F740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A3FC4EA-55D4-A6D3-DC7B-91F9F5DC8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10444"/>
              </p:ext>
            </p:extLst>
          </p:nvPr>
        </p:nvGraphicFramePr>
        <p:xfrm>
          <a:off x="1922530" y="136361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734565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43269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552923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3297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333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1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Distracted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8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Fatiqued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375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133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722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E8C81-0EA3-5207-E3B5-C4F0E7FAD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DFABBF-54E1-3F0A-A0F3-C0A111ED1B3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C19E85-ABCD-154D-CEDB-0E135B95D7C3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3-states: gated </a:t>
            </a:r>
            <a:r>
              <a:rPr lang="en-US" sz="2800" b="1" dirty="0" err="1">
                <a:solidFill>
                  <a:srgbClr val="202020"/>
                </a:solidFill>
                <a:latin typeface="Segoe UI" panose="020B0502040204020203" pitchFamily="34" charset="0"/>
              </a:rPr>
              <a:t>fatiqued</a:t>
            </a:r>
            <a:endParaRPr lang="en-US" sz="2800" b="1" dirty="0">
              <a:solidFill>
                <a:srgbClr val="202020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A6264CA-46CA-4F9F-726A-3C1B281E59DC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8F4CB72-A258-3A0C-0607-05C60472C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243913"/>
              </p:ext>
            </p:extLst>
          </p:nvPr>
        </p:nvGraphicFramePr>
        <p:xfrm>
          <a:off x="1922530" y="136361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734565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43269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552923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3297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333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1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Distracted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8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Fatiqued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375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133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170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9248-8C4A-ACB7-1517-44C08CBB6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CE9ADF-CF90-2836-72C8-905763223DA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346177-A0D7-6ECF-04EC-11F699D25B12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3-states: </a:t>
            </a:r>
            <a:r>
              <a:rPr lang="en-US" sz="2800" b="1" dirty="0" err="1">
                <a:solidFill>
                  <a:srgbClr val="202020"/>
                </a:solidFill>
                <a:latin typeface="Segoe UI" panose="020B0502040204020203" pitchFamily="34" charset="0"/>
              </a:rPr>
              <a:t>esemble</a:t>
            </a:r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 two model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B8B83C4-9AF7-C421-C34C-10241AA09FE0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B81DDA-8021-873B-A11A-6573DCAC8B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5758452"/>
              </p:ext>
            </p:extLst>
          </p:nvPr>
        </p:nvGraphicFramePr>
        <p:xfrm>
          <a:off x="1922530" y="1363610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37345658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043269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552923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732973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333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2810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Distracted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580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Fatiqued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9375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3133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486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543D6-DC41-27DA-06DC-3F688BB33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2B6D10-F117-F142-9B91-F1CB06EAAB14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F92F4A-4C7C-AA4A-1DA6-6219BBD2B2EB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Result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720B72-7940-3969-E469-FC02B3D56A80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EB49837-688D-0FC9-E074-DC6E69B71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139864"/>
              </p:ext>
            </p:extLst>
          </p:nvPr>
        </p:nvGraphicFramePr>
        <p:xfrm>
          <a:off x="508000" y="1365486"/>
          <a:ext cx="10894814" cy="423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42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301837069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14043799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1315027736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9083048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9468125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72939154"/>
                    </a:ext>
                  </a:extLst>
                </a:gridCol>
                <a:gridCol w="8243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25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60046">
                <a:tc>
                  <a:txBody>
                    <a:bodyPr/>
                    <a:lstStyle/>
                    <a:p>
                      <a:r>
                        <a:rPr sz="1600" dirty="0"/>
                        <a:t>Experiment</a:t>
                      </a:r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sz="1600" dirty="0"/>
                        <a:t>FOCUSED (P/R/F1)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sz="1600" dirty="0"/>
                        <a:t>DISTRACTED (P/R/F1)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sz="1600"/>
                        <a:t>FATIGUED (P/R/F1)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macro-F1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01997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 dirty="0"/>
                        <a:t>SVM (RBF)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0.551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0.571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0.725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0.584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0.647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0.785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0.310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0.579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CNN+GRU frozen, focal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0.697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0.683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0.690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0.74</a:t>
                      </a:r>
                      <a:r>
                        <a:rPr lang="en-US" sz="1600" dirty="0"/>
                        <a:t>7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0.811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0.777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0.130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0.226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0.565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0.726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CNN+GRU frozen, default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0.665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0.684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0.786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0.767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0.279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0.272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0.275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0.712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MLP (default weighting)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0.710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0.646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0.767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0.559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0.646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0.802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0.475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0.589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0.633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0.566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0.774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0.654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0.559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0.648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0.56</a:t>
                      </a:r>
                      <a:r>
                        <a:rPr lang="en-US" sz="1600" dirty="0"/>
                        <a:t>9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0.439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0.495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0.599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0.645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GBT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0.721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0.642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0.754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0.577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0.654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0.424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0.646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0.512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0.641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CNN+GRU fine-tuned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0.672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0.946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0.786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0.944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0.667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0.781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0.803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0.380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0.516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0.695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/>
                        <a:t>0.775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/>
                        <a:t>R3D-18 (3D-CNN)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0.923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0.789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0.696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0.796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0.692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0.458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0.551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0.712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0.784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600" dirty="0"/>
                        <a:t>TCN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0.871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0.743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0.88</a:t>
                      </a:r>
                      <a:r>
                        <a:rPr lang="en-US" sz="1600" dirty="0"/>
                        <a:t>4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0.619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0.728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0.801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0.688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dirty="0"/>
                        <a:t>0.734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907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A3747-E10E-1F47-74B4-5C7931655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6417B8-46A9-7CF5-7504-49E4F0EC3BC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9616C5-97FD-6FB0-3219-6784D19CB3FA}"/>
              </a:ext>
            </a:extLst>
          </p:cNvPr>
          <p:cNvSpPr txBox="1"/>
          <p:nvPr/>
        </p:nvSpPr>
        <p:spPr>
          <a:xfrm>
            <a:off x="1397000" y="355600"/>
            <a:ext cx="10287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 dirty="0">
                <a:solidFill>
                  <a:srgbClr val="202020"/>
                </a:solidFill>
                <a:latin typeface="Segoe UI" panose="020B0502040204020203" pitchFamily="34" charset="0"/>
              </a:rPr>
              <a:t>Parameters &amp; Hyperparameters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819F57F-249B-0B38-2DE1-AB4C983D09A1}"/>
              </a:ext>
            </a:extLst>
          </p:cNvPr>
          <p:cNvSpPr/>
          <p:nvPr/>
        </p:nvSpPr>
        <p:spPr>
          <a:xfrm>
            <a:off x="508000" y="381000"/>
            <a:ext cx="635000" cy="635000"/>
          </a:xfrm>
          <a:prstGeom prst="ellipse">
            <a:avLst/>
          </a:prstGeom>
          <a:solidFill>
            <a:srgbClr val="5C5C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FFFFFF"/>
                </a:solidFill>
                <a:latin typeface="Segoe UI" panose="020B0502040204020203" pitchFamily="34" charset="0"/>
              </a:rPr>
              <a:t>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4695C02-6612-F492-C442-51AB52C36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7857704"/>
              </p:ext>
            </p:extLst>
          </p:nvPr>
        </p:nvGraphicFramePr>
        <p:xfrm>
          <a:off x="615950" y="1164590"/>
          <a:ext cx="11176000" cy="458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6850">
                  <a:extLst>
                    <a:ext uri="{9D8B030D-6E8A-4147-A177-3AD203B41FA5}">
                      <a16:colId xmlns:a16="http://schemas.microsoft.com/office/drawing/2014/main" val="13922419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1134298772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052731782"/>
                    </a:ext>
                  </a:extLst>
                </a:gridCol>
                <a:gridCol w="1035050">
                  <a:extLst>
                    <a:ext uri="{9D8B030D-6E8A-4147-A177-3AD203B41FA5}">
                      <a16:colId xmlns:a16="http://schemas.microsoft.com/office/drawing/2014/main" val="956474513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17074456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477829045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3313098865"/>
                    </a:ext>
                  </a:extLst>
                </a:gridCol>
                <a:gridCol w="933450">
                  <a:extLst>
                    <a:ext uri="{9D8B030D-6E8A-4147-A177-3AD203B41FA5}">
                      <a16:colId xmlns:a16="http://schemas.microsoft.com/office/drawing/2014/main" val="2738208513"/>
                    </a:ext>
                  </a:extLst>
                </a:gridCol>
                <a:gridCol w="831850">
                  <a:extLst>
                    <a:ext uri="{9D8B030D-6E8A-4147-A177-3AD203B41FA5}">
                      <a16:colId xmlns:a16="http://schemas.microsoft.com/office/drawing/2014/main" val="9788807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Experiment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Architecture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Window (len/stride)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Batch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Epochs (best)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LR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Backbone LR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Loss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/>
                        <a:t>Weight-power</a:t>
                      </a:r>
                      <a:endParaRPr lang="en-US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8821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RBF kernel, C=10.0, gamma=scale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 (30k subsample)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897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MLP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2-layer MLP, 64→32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per-frame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40 (last)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1e-3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814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300 trees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per-frame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3810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GBT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HistGradientBoosting, max_iter=300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per-frame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17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TCN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6 dilated-causal blocks, kernel=3, hidden=64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600 / 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40 (25)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1e-3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14422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CNN+GRU (frozen, 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ResNet18 (frozen) → proj128 → GRU(64,2)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600 / 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40 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1e-3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74699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CNN+GRU (frozen, focal)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Same as above, frozen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600 / 300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40 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1e-3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Focal (γ=2.0)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0.3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9412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CNN+GRU (fine-tuned)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ResNet18 (layer4 unfrozen, 8.5M/11.3M) → proj128 → GRU(64,2)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256 / 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15 (9)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1e-3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1e-4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077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R3D-18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R3D-18 (layer4 unfrozen, 24.9M/33.2M), clip classifier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16 / 16 (clip)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10 (1)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1e-3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1e-4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1.0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730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173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D2A3C4-6EED-8191-DD0E-32A70A971D7B}"/>
              </a:ext>
            </a:extLst>
          </p:cNvPr>
          <p:cNvSpPr txBox="1"/>
          <p:nvPr/>
        </p:nvSpPr>
        <p:spPr>
          <a:xfrm>
            <a:off x="2051050" y="1708706"/>
            <a:ext cx="8210997" cy="16312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04040"/>
                </a:solidFill>
                <a:latin typeface="Inter" panose="02000503000000020004" pitchFamily="2" charset="0"/>
                <a:ea typeface="Inter" panose="02000503000000020004" pitchFamily="2" charset="0"/>
              </a:rPr>
              <a:t>Vision Transformer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04040"/>
                </a:solidFill>
                <a:latin typeface="Inter" panose="02000503000000020004" pitchFamily="2" charset="0"/>
                <a:ea typeface="Inter" panose="02000503000000020004" pitchFamily="2" charset="0"/>
              </a:rPr>
              <a:t>CNN, 3D-CNN,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04040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Setup learning rate scheduler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04040"/>
                </a:solidFill>
                <a:latin typeface="Inter" panose="02000503000000020004" pitchFamily="2" charset="0"/>
                <a:ea typeface="Inter" panose="02000503000000020004" pitchFamily="2" charset="0"/>
              </a:rPr>
              <a:t>Organize </a:t>
            </a:r>
            <a:r>
              <a:rPr lang="en-US" sz="2000" dirty="0" err="1">
                <a:solidFill>
                  <a:srgbClr val="404040"/>
                </a:solidFill>
                <a:latin typeface="Inter" panose="02000503000000020004" pitchFamily="2" charset="0"/>
                <a:ea typeface="Inter" panose="02000503000000020004" pitchFamily="2" charset="0"/>
              </a:rPr>
              <a:t>Github</a:t>
            </a:r>
            <a:endParaRPr lang="en-US" sz="2000" dirty="0">
              <a:solidFill>
                <a:srgbClr val="404040"/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404040"/>
                </a:solidFill>
                <a:latin typeface="Inter" panose="02000503000000020004" pitchFamily="2" charset="0"/>
                <a:ea typeface="Inter" panose="02000503000000020004" pitchFamily="2" charset="0"/>
              </a:rPr>
              <a:t>Upload AI and Vision AI content to drive for Dr. Min</a:t>
            </a:r>
          </a:p>
        </p:txBody>
      </p:sp>
    </p:spTree>
    <p:extLst>
      <p:ext uri="{BB962C8B-B14F-4D97-AF65-F5344CB8AC3E}">
        <p14:creationId xmlns:p14="http://schemas.microsoft.com/office/powerpoint/2010/main" val="2342199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27133</TotalTime>
  <Words>753</Words>
  <Application>Microsoft Office PowerPoint</Application>
  <PresentationFormat>Widescreen</PresentationFormat>
  <Paragraphs>430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Inter</vt:lpstr>
      <vt:lpstr>Segoe UI</vt:lpstr>
      <vt:lpstr>Office Theme</vt:lpstr>
      <vt:lpstr>Initial Setup and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giridhar Addagudi</dc:creator>
  <cp:lastModifiedBy>Kormoua, Khongmeng</cp:lastModifiedBy>
  <cp:revision>30</cp:revision>
  <dcterms:created xsi:type="dcterms:W3CDTF">2026-05-13T15:29:03Z</dcterms:created>
  <dcterms:modified xsi:type="dcterms:W3CDTF">2026-08-12T16:38:29Z</dcterms:modified>
</cp:coreProperties>
</file>